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48" r:id="rId2"/>
  </p:sldMasterIdLst>
  <p:notesMasterIdLst>
    <p:notesMasterId r:id="rId28"/>
  </p:notesMasterIdLst>
  <p:sldIdLst>
    <p:sldId id="291" r:id="rId3"/>
    <p:sldId id="257" r:id="rId4"/>
    <p:sldId id="292" r:id="rId5"/>
    <p:sldId id="283" r:id="rId6"/>
    <p:sldId id="258" r:id="rId7"/>
    <p:sldId id="259" r:id="rId8"/>
    <p:sldId id="260" r:id="rId9"/>
    <p:sldId id="262" r:id="rId10"/>
    <p:sldId id="281" r:id="rId11"/>
    <p:sldId id="282" r:id="rId12"/>
    <p:sldId id="264" r:id="rId13"/>
    <p:sldId id="266" r:id="rId14"/>
    <p:sldId id="267" r:id="rId15"/>
    <p:sldId id="284" r:id="rId16"/>
    <p:sldId id="285" r:id="rId17"/>
    <p:sldId id="286" r:id="rId18"/>
    <p:sldId id="273" r:id="rId19"/>
    <p:sldId id="274" r:id="rId20"/>
    <p:sldId id="276" r:id="rId21"/>
    <p:sldId id="277" r:id="rId22"/>
    <p:sldId id="290" r:id="rId23"/>
    <p:sldId id="287" r:id="rId24"/>
    <p:sldId id="293" r:id="rId25"/>
    <p:sldId id="294" r:id="rId26"/>
    <p:sldId id="289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FE280D-7930-4CB7-908E-13E3C9815287}" v="77" dt="2025-10-19T11:02:21.6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microsoft.com/office/2015/10/relationships/revisionInfo" Target="revisionInfo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37" Type="http://schemas.openxmlformats.org/officeDocument/2006/relationships/customXml" Target="../customXml/item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36" Type="http://schemas.openxmlformats.org/officeDocument/2006/relationships/customXml" Target="../customXml/item2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Relationship Id="rId35" Type="http://schemas.openxmlformats.org/officeDocument/2006/relationships/customXml" Target="../customXml/item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kat Baul" userId="dae859d7-ea3e-4a5d-83a1-d953f3940120" providerId="ADAL" clId="{D5D420DE-923A-48C3-8C9D-6EE2B77A9274}"/>
    <pc:docChg chg="modSld">
      <pc:chgData name="Saikat Baul" userId="dae859d7-ea3e-4a5d-83a1-d953f3940120" providerId="ADAL" clId="{D5D420DE-923A-48C3-8C9D-6EE2B77A9274}" dt="2025-10-19T11:02:28.803" v="77" actId="1076"/>
      <pc:docMkLst>
        <pc:docMk/>
      </pc:docMkLst>
      <pc:sldChg chg="addSp delSp modSp mod">
        <pc:chgData name="Saikat Baul" userId="dae859d7-ea3e-4a5d-83a1-d953f3940120" providerId="ADAL" clId="{D5D420DE-923A-48C3-8C9D-6EE2B77A9274}" dt="2025-10-19T11:02:28.803" v="77" actId="1076"/>
        <pc:sldMkLst>
          <pc:docMk/>
          <pc:sldMk cId="2664565021" sldId="291"/>
        </pc:sldMkLst>
        <pc:spChg chg="del">
          <ac:chgData name="Saikat Baul" userId="dae859d7-ea3e-4a5d-83a1-d953f3940120" providerId="ADAL" clId="{D5D420DE-923A-48C3-8C9D-6EE2B77A9274}" dt="2025-10-19T10:58:59.974" v="0" actId="478"/>
          <ac:spMkLst>
            <pc:docMk/>
            <pc:sldMk cId="2664565021" sldId="291"/>
            <ac:spMk id="5" creationId="{A7471D76-0639-7290-13D7-917D3AE9FE44}"/>
          </ac:spMkLst>
        </pc:spChg>
        <pc:spChg chg="mod">
          <ac:chgData name="Saikat Baul" userId="dae859d7-ea3e-4a5d-83a1-d953f3940120" providerId="ADAL" clId="{D5D420DE-923A-48C3-8C9D-6EE2B77A9274}" dt="2025-10-19T10:59:49.562" v="75" actId="1035"/>
          <ac:spMkLst>
            <pc:docMk/>
            <pc:sldMk cId="2664565021" sldId="291"/>
            <ac:spMk id="6" creationId="{3DCA6140-51C9-DA6C-04F4-89840793070A}"/>
          </ac:spMkLst>
        </pc:spChg>
        <pc:spChg chg="del">
          <ac:chgData name="Saikat Baul" userId="dae859d7-ea3e-4a5d-83a1-d953f3940120" providerId="ADAL" clId="{D5D420DE-923A-48C3-8C9D-6EE2B77A9274}" dt="2025-10-19T10:58:59.974" v="0" actId="478"/>
          <ac:spMkLst>
            <pc:docMk/>
            <pc:sldMk cId="2664565021" sldId="291"/>
            <ac:spMk id="24" creationId="{C2082529-78D7-4EA7-BFF9-A1D1F62040C8}"/>
          </ac:spMkLst>
        </pc:spChg>
        <pc:grpChg chg="add mod">
          <ac:chgData name="Saikat Baul" userId="dae859d7-ea3e-4a5d-83a1-d953f3940120" providerId="ADAL" clId="{D5D420DE-923A-48C3-8C9D-6EE2B77A9274}" dt="2025-10-19T10:59:49.562" v="75" actId="1035"/>
          <ac:grpSpMkLst>
            <pc:docMk/>
            <pc:sldMk cId="2664565021" sldId="291"/>
            <ac:grpSpMk id="2" creationId="{BEC3D8CB-D0E7-4713-7ECB-E7724472BA0D}"/>
          </ac:grpSpMkLst>
        </pc:grpChg>
        <pc:picChg chg="del">
          <ac:chgData name="Saikat Baul" userId="dae859d7-ea3e-4a5d-83a1-d953f3940120" providerId="ADAL" clId="{D5D420DE-923A-48C3-8C9D-6EE2B77A9274}" dt="2025-10-19T10:58:59.974" v="0" actId="478"/>
          <ac:picMkLst>
            <pc:docMk/>
            <pc:sldMk cId="2664565021" sldId="291"/>
            <ac:picMk id="4" creationId="{D41DF543-9E14-C600-58F9-C406E479824F}"/>
          </ac:picMkLst>
        </pc:picChg>
        <pc:picChg chg="mod">
          <ac:chgData name="Saikat Baul" userId="dae859d7-ea3e-4a5d-83a1-d953f3940120" providerId="ADAL" clId="{D5D420DE-923A-48C3-8C9D-6EE2B77A9274}" dt="2025-10-19T10:59:49.562" v="75" actId="1035"/>
          <ac:picMkLst>
            <pc:docMk/>
            <pc:sldMk cId="2664565021" sldId="291"/>
            <ac:picMk id="7" creationId="{DA50B068-621D-9B42-3E0C-AA7379DE7EFD}"/>
          </ac:picMkLst>
        </pc:picChg>
        <pc:cxnChg chg="add mod">
          <ac:chgData name="Saikat Baul" userId="dae859d7-ea3e-4a5d-83a1-d953f3940120" providerId="ADAL" clId="{D5D420DE-923A-48C3-8C9D-6EE2B77A9274}" dt="2025-10-19T11:02:28.803" v="77" actId="1076"/>
          <ac:cxnSpMkLst>
            <pc:docMk/>
            <pc:sldMk cId="2664565021" sldId="291"/>
            <ac:cxnSpMk id="4" creationId="{9268D11F-A0D6-E2ED-5178-935B76C3A526}"/>
          </ac:cxnSpMkLst>
        </pc:cxnChg>
        <pc:cxnChg chg="del">
          <ac:chgData name="Saikat Baul" userId="dae859d7-ea3e-4a5d-83a1-d953f3940120" providerId="ADAL" clId="{D5D420DE-923A-48C3-8C9D-6EE2B77A9274}" dt="2025-10-19T10:58:59.974" v="0" actId="478"/>
          <ac:cxnSpMkLst>
            <pc:docMk/>
            <pc:sldMk cId="2664565021" sldId="291"/>
            <ac:cxnSpMk id="29" creationId="{E6E5F233-5F84-472A-B835-11475F02A79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72821F-B85F-4F63-AEF0-03AF46C0ED4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999E1-E857-495E-86E1-0F1DAEED7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728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450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"AES-256"</a:t>
            </a:r>
            <a:r>
              <a:rPr lang="en-US" dirty="0"/>
              <a:t>: Stands for </a:t>
            </a:r>
            <a:r>
              <a:rPr lang="en-US" b="1" dirty="0"/>
              <a:t>Advanced Encryption Standard</a:t>
            </a:r>
            <a:r>
              <a:rPr lang="en-US" dirty="0"/>
              <a:t> with a </a:t>
            </a:r>
            <a:r>
              <a:rPr lang="en-US" b="1" dirty="0"/>
              <a:t>256-bit key</a:t>
            </a:r>
            <a:r>
              <a:rPr lang="en-US" dirty="0"/>
              <a:t>, which is a strong, industry-standard encryption method used to secure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999E1-E857-495E-86E1-0F1DAEED7C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26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1999E1-E857-495E-86E1-0F1DAEED7C48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24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5141975"/>
            <a:ext cx="8468145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043911"/>
            <a:ext cx="8272211" cy="1497507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4541417"/>
            <a:ext cx="827221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705124"/>
            <a:ext cx="8272212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2336003"/>
            <a:ext cx="8272212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5956138"/>
            <a:ext cx="2133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  <a:pPr/>
              <a:t>10/19/2025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5951812"/>
            <a:ext cx="51879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5956138"/>
            <a:ext cx="7893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34901" y="457200"/>
            <a:ext cx="277749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031610" y="453643"/>
            <a:ext cx="277749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181373" y="457200"/>
            <a:ext cx="277749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saikatbaul@aiub.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.png"/><Relationship Id="rId4" Type="http://schemas.openxmlformats.org/officeDocument/2006/relationships/hyperlink" Target="https://scholar.google.co.in/citations?user=4oWx7ZcAAAAJ&amp;hl=e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software-engineering/software-engineering-challenges-eliciting-requirements/" TargetMode="External"/><Relationship Id="rId2" Type="http://schemas.openxmlformats.org/officeDocument/2006/relationships/hyperlink" Target="https://xebrio.com/what-is-requirements-management-a-complete-guide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gilebusiness.org/dsdm-project-framework/moscow-prioririsation.html" TargetMode="External"/><Relationship Id="rId5" Type="http://schemas.openxmlformats.org/officeDocument/2006/relationships/hyperlink" Target="https://www.atlassian.com/devops/what-is-devops/agile-vs-devops" TargetMode="External"/><Relationship Id="rId4" Type="http://schemas.openxmlformats.org/officeDocument/2006/relationships/hyperlink" Target="https://rnjn.in/glossary/boehms-law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AA9F65-94B8-41A5-A7FF-23D2CFB11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8B0F8E-3F6C-4541-B9C1-774D80A08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119748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45F5BC-32D1-41CD-B270-C46F18CA1A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E57EE13-72B0-4FFA-ACE1-EBDE89340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17157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DA182162-B517-4B41-B039-339F87FAE1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9B5AD54-1E68-4239-A6AF-FE0F49BB8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44500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576200" y="1614298"/>
            <a:ext cx="2308757" cy="3601101"/>
          </a:xfrm>
        </p:spPr>
        <p:txBody>
          <a:bodyPr vert="horz" lIns="68580" tIns="34290" rIns="68580" bIns="34290" rtlCol="0" anchor="ctr">
            <a:normAutofit/>
          </a:bodyPr>
          <a:lstStyle/>
          <a:p>
            <a:pPr algn="ctr"/>
            <a:r>
              <a:rPr lang="en-US" sz="1800">
                <a:solidFill>
                  <a:srgbClr val="FFFFFF"/>
                </a:solidFill>
              </a:rPr>
              <a:t>Software engineering (Undergraduate)</a:t>
            </a: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71131479-3A67-4241-BA19-63C61B2AD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D71187A8-1267-46DA-BD99-56CA1E3D4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31610" y="119748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BC2278FC-331B-4EF7-9D0D-AA0D349A21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81373" y="120015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807A075E-21A0-4954-BEA3-22C78E6FA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0" y="317157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 useBgFill="1">
        <p:nvSpPr>
          <p:cNvPr id="20" name="Rectangle 15">
            <a:extLst>
              <a:ext uri="{FF2B5EF4-FFF2-40B4-BE49-F238E27FC236}">
                <a16:creationId xmlns:a16="http://schemas.microsoft.com/office/drawing/2014/main" id="{F58081DC-3CFD-4290-87AE-164515084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Rectangle 17">
            <a:extLst>
              <a:ext uri="{FF2B5EF4-FFF2-40B4-BE49-F238E27FC236}">
                <a16:creationId xmlns:a16="http://schemas.microsoft.com/office/drawing/2014/main" id="{F6FC796D-883B-4149-9128-47B4179B3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901" y="1200150"/>
            <a:ext cx="2777490" cy="445002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sz="1350"/>
          </a:p>
        </p:txBody>
      </p:sp>
      <p:sp>
        <p:nvSpPr>
          <p:cNvPr id="22" name="Subtitle 2">
            <a:extLst>
              <a:ext uri="{FF2B5EF4-FFF2-40B4-BE49-F238E27FC236}">
                <a16:creationId xmlns:a16="http://schemas.microsoft.com/office/drawing/2014/main" id="{76B6F65C-6B4A-4901-8A96-CE7330250469}"/>
              </a:ext>
            </a:extLst>
          </p:cNvPr>
          <p:cNvSpPr txBox="1">
            <a:spLocks/>
          </p:cNvSpPr>
          <p:nvPr/>
        </p:nvSpPr>
        <p:spPr>
          <a:xfrm>
            <a:off x="576200" y="1614298"/>
            <a:ext cx="2308757" cy="360110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u="sng" cap="all" dirty="0">
                <a:solidFill>
                  <a:srgbClr val="FFFFFF"/>
                </a:solidFill>
              </a:rPr>
              <a:t>Course Name</a:t>
            </a:r>
            <a:br>
              <a:rPr lang="en-US" sz="1800" cap="all" dirty="0">
                <a:solidFill>
                  <a:srgbClr val="FFFFFF"/>
                </a:solidFill>
              </a:rPr>
            </a:br>
            <a:br>
              <a:rPr lang="en-US" sz="1800" cap="all" dirty="0">
                <a:solidFill>
                  <a:srgbClr val="FFFFFF"/>
                </a:solidFill>
              </a:rPr>
            </a:br>
            <a:r>
              <a:rPr lang="en-US" sz="1800" cap="all" dirty="0">
                <a:solidFill>
                  <a:srgbClr val="FFFFFF"/>
                </a:solidFill>
              </a:rPr>
              <a:t>software engineering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cap="all" dirty="0">
                <a:solidFill>
                  <a:srgbClr val="FFFFFF"/>
                </a:solidFill>
              </a:rPr>
              <a:t>CSC 3114</a:t>
            </a: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1800" cap="all" dirty="0">
                <a:solidFill>
                  <a:srgbClr val="FFFFFF"/>
                </a:solidFill>
              </a:rPr>
              <a:t> (Undergraduate)</a:t>
            </a: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CADBF75-A870-4E01-9DB8-F57472A203D2}"/>
              </a:ext>
            </a:extLst>
          </p:cNvPr>
          <p:cNvSpPr txBox="1">
            <a:spLocks/>
          </p:cNvSpPr>
          <p:nvPr/>
        </p:nvSpPr>
        <p:spPr>
          <a:xfrm>
            <a:off x="3353691" y="1611631"/>
            <a:ext cx="5386427" cy="103754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250" dirty="0">
                <a:solidFill>
                  <a:srgbClr val="C00000"/>
                </a:solidFill>
              </a:rPr>
              <a:t>Chapter 3</a:t>
            </a:r>
            <a:br>
              <a:rPr lang="en-US" sz="2250" dirty="0">
                <a:solidFill>
                  <a:srgbClr val="C00000"/>
                </a:solidFill>
              </a:rPr>
            </a:br>
            <a:br>
              <a:rPr lang="en-US" sz="2250" dirty="0">
                <a:solidFill>
                  <a:schemeClr val="tx2"/>
                </a:solidFill>
              </a:rPr>
            </a:br>
            <a:r>
              <a:rPr lang="en-US" sz="2250" dirty="0">
                <a:solidFill>
                  <a:schemeClr val="tx2"/>
                </a:solidFill>
              </a:rPr>
              <a:t>Requirements engineering</a:t>
            </a:r>
            <a:endParaRPr lang="en-US" sz="2250" dirty="0">
              <a:solidFill>
                <a:srgbClr val="002060"/>
              </a:solidFill>
            </a:endParaRP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5CC0F6-BD7E-4264-9DDC-E65E61EE7B84}"/>
              </a:ext>
            </a:extLst>
          </p:cNvPr>
          <p:cNvCxnSpPr/>
          <p:nvPr/>
        </p:nvCxnSpPr>
        <p:spPr>
          <a:xfrm>
            <a:off x="3263081" y="1454560"/>
            <a:ext cx="549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BEC3D8CB-D0E7-4713-7ECB-E7724472BA0D}"/>
              </a:ext>
            </a:extLst>
          </p:cNvPr>
          <p:cNvGrpSpPr/>
          <p:nvPr/>
        </p:nvGrpSpPr>
        <p:grpSpPr>
          <a:xfrm>
            <a:off x="3356942" y="3891127"/>
            <a:ext cx="5500453" cy="1696591"/>
            <a:chOff x="6208947" y="4672800"/>
            <a:chExt cx="5500453" cy="1696591"/>
          </a:xfrm>
        </p:grpSpPr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3DCA6140-51C9-DA6C-04F4-89840793070A}"/>
                </a:ext>
              </a:extLst>
            </p:cNvPr>
            <p:cNvSpPr txBox="1">
              <a:spLocks/>
            </p:cNvSpPr>
            <p:nvPr/>
          </p:nvSpPr>
          <p:spPr>
            <a:xfrm>
              <a:off x="8849074" y="4697932"/>
              <a:ext cx="2860326" cy="1646327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 fontScale="97500"/>
            </a:bodyPr>
            <a:lstStyle>
              <a:lvl1pPr algn="l" defTabSz="457200" rtl="0" eaLnBrk="1" latinLnBrk="0" hangingPunct="1">
                <a:spcBef>
                  <a:spcPct val="0"/>
                </a:spcBef>
                <a:buNone/>
                <a:defRPr sz="2800" b="0" kern="1200" cap="all">
                  <a:solidFill>
                    <a:schemeClr val="bg1"/>
                  </a:solidFill>
                  <a:latin typeface="+mj-lt"/>
                  <a:ea typeface="+mj-ea"/>
                  <a:cs typeface="+mj-cs"/>
                </a:defRPr>
              </a:lvl1pPr>
              <a:lvl2pPr eaLnBrk="1" hangingPunct="1">
                <a:defRPr>
                  <a:solidFill>
                    <a:schemeClr val="tx2"/>
                  </a:solidFill>
                </a:defRPr>
              </a:lvl2pPr>
              <a:lvl3pPr eaLnBrk="1" hangingPunct="1">
                <a:defRPr>
                  <a:solidFill>
                    <a:schemeClr val="tx2"/>
                  </a:solidFill>
                </a:defRPr>
              </a:lvl3pPr>
              <a:lvl4pPr eaLnBrk="1" hangingPunct="1">
                <a:defRPr>
                  <a:solidFill>
                    <a:schemeClr val="tx2"/>
                  </a:solidFill>
                </a:defRPr>
              </a:lvl4pPr>
              <a:lvl5pPr eaLnBrk="1" hangingPunct="1">
                <a:defRPr>
                  <a:solidFill>
                    <a:schemeClr val="tx2"/>
                  </a:solidFill>
                </a:defRPr>
              </a:lvl5pPr>
              <a:lvl6pPr eaLnBrk="1" hangingPunct="1">
                <a:defRPr>
                  <a:solidFill>
                    <a:schemeClr val="tx2"/>
                  </a:solidFill>
                </a:defRPr>
              </a:lvl6pPr>
              <a:lvl7pPr eaLnBrk="1" hangingPunct="1">
                <a:defRPr>
                  <a:solidFill>
                    <a:schemeClr val="tx2"/>
                  </a:solidFill>
                </a:defRPr>
              </a:lvl7pPr>
              <a:lvl8pPr eaLnBrk="1" hangingPunct="1">
                <a:defRPr>
                  <a:solidFill>
                    <a:schemeClr val="tx2"/>
                  </a:solidFill>
                </a:defRPr>
              </a:lvl8pPr>
              <a:lvl9pPr eaLnBrk="1" hangingPunct="1">
                <a:defRPr>
                  <a:solidFill>
                    <a:schemeClr val="tx2"/>
                  </a:solidFill>
                </a:defRPr>
              </a:lvl9pPr>
            </a:lstStyle>
            <a:p>
              <a:pPr algn="r"/>
              <a:r>
                <a:rPr lang="en-US" sz="2400" dirty="0">
                  <a:solidFill>
                    <a:srgbClr val="7030A0"/>
                  </a:solidFill>
                </a:rPr>
                <a:t>Saikat Baul</a:t>
              </a:r>
            </a:p>
            <a:p>
              <a:pPr algn="r"/>
              <a:r>
                <a:rPr lang="en-US" sz="2000" dirty="0">
                  <a:solidFill>
                    <a:schemeClr val="tx1"/>
                  </a:solidFill>
                </a:rPr>
                <a:t>Lecturer, CS,  AIUB</a:t>
              </a:r>
            </a:p>
            <a:p>
              <a:pPr algn="r"/>
              <a:r>
                <a:rPr lang="en-US" sz="2000" cap="none" dirty="0">
                  <a:solidFill>
                    <a:schemeClr val="tx1"/>
                  </a:solidFill>
                  <a:hlinkClick r:id="rId3"/>
                </a:rPr>
                <a:t>saikatbaul@aiub.edu</a:t>
              </a:r>
              <a:r>
                <a:rPr lang="en-US" sz="2000" cap="none" dirty="0">
                  <a:solidFill>
                    <a:schemeClr val="tx1"/>
                  </a:solidFill>
                </a:rPr>
                <a:t> </a:t>
              </a:r>
              <a:endParaRPr lang="en-US" sz="2300" cap="none" dirty="0"/>
            </a:p>
          </p:txBody>
        </p:sp>
        <p:pic>
          <p:nvPicPr>
            <p:cNvPr id="7" name="Picture 2" descr="Google Scholar Logo PNG Vector (AI, PDF ...">
              <a:hlinkClick r:id="rId4"/>
              <a:extLst>
                <a:ext uri="{FF2B5EF4-FFF2-40B4-BE49-F238E27FC236}">
                  <a16:creationId xmlns:a16="http://schemas.microsoft.com/office/drawing/2014/main" id="{DA50B068-621D-9B42-3E0C-AA7379DE7E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08947" y="4672800"/>
              <a:ext cx="1696591" cy="16965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268D11F-A0D6-E2ED-5178-935B76C3A526}"/>
              </a:ext>
            </a:extLst>
          </p:cNvPr>
          <p:cNvCxnSpPr/>
          <p:nvPr/>
        </p:nvCxnSpPr>
        <p:spPr>
          <a:xfrm>
            <a:off x="3282879" y="2932840"/>
            <a:ext cx="5497462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4565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555172" y="481467"/>
            <a:ext cx="5388429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Table of Contents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828799"/>
            <a:ext cx="8686800" cy="4547734"/>
          </a:xfrm>
        </p:spPr>
        <p:txBody>
          <a:bodyPr>
            <a:noAutofit/>
          </a:bodyPr>
          <a:lstStyle/>
          <a:p>
            <a:r>
              <a:rPr lang="en-US" sz="2700" dirty="0"/>
              <a:t>Introduction to Requirements in Software Engineering</a:t>
            </a:r>
          </a:p>
          <a:p>
            <a:r>
              <a:rPr lang="en-US" sz="2700" dirty="0"/>
              <a:t>Types of Software Requirements </a:t>
            </a:r>
          </a:p>
          <a:p>
            <a:r>
              <a:rPr lang="en-US" sz="2700" dirty="0"/>
              <a:t>Requirements Engineering Phases</a:t>
            </a:r>
          </a:p>
          <a:p>
            <a:r>
              <a:rPr lang="en-US" sz="2700" dirty="0"/>
              <a:t>Challenges in Requirements Engineering</a:t>
            </a:r>
          </a:p>
          <a:p>
            <a:r>
              <a:rPr lang="en-US" sz="2700" dirty="0"/>
              <a:t>Impact of Poor Requirements on Software Projects</a:t>
            </a:r>
          </a:p>
          <a:p>
            <a:r>
              <a:rPr lang="fr-FR" sz="2700" dirty="0" err="1"/>
              <a:t>Boehm’s</a:t>
            </a:r>
            <a:r>
              <a:rPr lang="fr-FR" sz="2700" dirty="0"/>
              <a:t> Law</a:t>
            </a:r>
          </a:p>
          <a:p>
            <a:r>
              <a:rPr lang="fr-FR" sz="2700" dirty="0"/>
              <a:t>User Stories vs SRS</a:t>
            </a:r>
          </a:p>
          <a:p>
            <a:r>
              <a:rPr lang="en-US" sz="2700" dirty="0"/>
              <a:t>The  Requirements  Baseline</a:t>
            </a:r>
          </a:p>
          <a:p>
            <a:r>
              <a:rPr lang="en-US" sz="2700" dirty="0"/>
              <a:t>Definition of Shift Left Testing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E9DF1-4972-F688-1E28-1A5CBDD5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2427-CF07-2526-E45F-6FCB66DD4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555172" y="612095"/>
            <a:ext cx="9394371" cy="1143000"/>
          </a:xfrm>
        </p:spPr>
        <p:txBody>
          <a:bodyPr>
            <a:normAutofit/>
          </a:bodyPr>
          <a:lstStyle/>
          <a:p>
            <a:r>
              <a:rPr sz="4000" b="1" dirty="0"/>
              <a:t>Introduction to Requirements</a:t>
            </a:r>
            <a:r>
              <a:rPr lang="en-US" sz="4000" b="1" dirty="0"/>
              <a:t> in SE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9B7F5-7406-87AE-6B0A-147863FAA9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992085"/>
            <a:ext cx="8686800" cy="3679371"/>
          </a:xfrm>
        </p:spPr>
        <p:txBody>
          <a:bodyPr>
            <a:normAutofit/>
          </a:bodyPr>
          <a:lstStyle/>
          <a:p>
            <a:pPr algn="just"/>
            <a:r>
              <a:rPr lang="en-US" sz="2200" dirty="0"/>
              <a:t>The software requirements are description of features and functionalities of the target system.</a:t>
            </a:r>
          </a:p>
          <a:p>
            <a:pPr algn="just"/>
            <a:r>
              <a:rPr lang="en-US" sz="2200" dirty="0"/>
              <a:t>A condition or capability needed by a user to solve a problem or achieve an objective, or a condition or capability that must be met or possessed by a system or system component. </a:t>
            </a:r>
          </a:p>
          <a:p>
            <a:pPr algn="just"/>
            <a:r>
              <a:rPr lang="en-US" sz="2200" dirty="0"/>
              <a:t>Essentially, requirements specify what the software must do, how well it must perform and any constraints it must adhere to. </a:t>
            </a:r>
          </a:p>
          <a:p>
            <a:pPr algn="just"/>
            <a:r>
              <a:rPr lang="en-US" sz="2200" dirty="0"/>
              <a:t>For software projects to be successful, the Software Development Life Cycle (SDLC) is essential. </a:t>
            </a:r>
          </a:p>
        </p:txBody>
      </p:sp>
    </p:spTree>
    <p:extLst>
      <p:ext uri="{BB962C8B-B14F-4D97-AF65-F5344CB8AC3E}">
        <p14:creationId xmlns:p14="http://schemas.microsoft.com/office/powerpoint/2010/main" val="3114321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8" name="Picture 4" descr="Requirement Engineering Types 1">
            <a:extLst>
              <a:ext uri="{FF2B5EF4-FFF2-40B4-BE49-F238E27FC236}">
                <a16:creationId xmlns:a16="http://schemas.microsoft.com/office/drawing/2014/main" id="{D1EB7715-9F21-EBAF-3EC5-D4E86112AF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2088" y="772205"/>
            <a:ext cx="7562686" cy="497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970E367-B69F-6A9E-0538-218048D15676}"/>
              </a:ext>
            </a:extLst>
          </p:cNvPr>
          <p:cNvSpPr txBox="1"/>
          <p:nvPr/>
        </p:nvSpPr>
        <p:spPr>
          <a:xfrm>
            <a:off x="2709663" y="6064415"/>
            <a:ext cx="3724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1: Types of requirements in RE</a:t>
            </a:r>
          </a:p>
        </p:txBody>
      </p:sp>
    </p:spTree>
    <p:extLst>
      <p:ext uri="{BB962C8B-B14F-4D97-AF65-F5344CB8AC3E}">
        <p14:creationId xmlns:p14="http://schemas.microsoft.com/office/powerpoint/2010/main" val="37912413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455710" y="395277"/>
            <a:ext cx="8229600" cy="1143000"/>
          </a:xfrm>
        </p:spPr>
        <p:txBody>
          <a:bodyPr>
            <a:normAutofit/>
          </a:bodyPr>
          <a:lstStyle/>
          <a:p>
            <a:r>
              <a:rPr lang="en-US" sz="3800" b="1" dirty="0"/>
              <a:t>Role of Requirements in SDLC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147" y="1803637"/>
            <a:ext cx="4354288" cy="4702629"/>
          </a:xfrm>
        </p:spPr>
        <p:txBody>
          <a:bodyPr>
            <a:normAutofit fontScale="77500" lnSpcReduction="20000"/>
          </a:bodyPr>
          <a:lstStyle/>
          <a:p>
            <a:r>
              <a:rPr lang="en-US" sz="2700" dirty="0"/>
              <a:t>Initial phase of project planning.</a:t>
            </a:r>
          </a:p>
          <a:p>
            <a:r>
              <a:rPr lang="en-US" sz="2700" dirty="0"/>
              <a:t>Basis for project estimation and planning.</a:t>
            </a:r>
          </a:p>
          <a:p>
            <a:r>
              <a:rPr lang="en-US" sz="2700" dirty="0"/>
              <a:t>Guides design, implementation, testing and maintenance.</a:t>
            </a:r>
          </a:p>
          <a:p>
            <a:r>
              <a:rPr lang="en-US" sz="2800" dirty="0"/>
              <a:t>SDLC offers an organized method that guarantees effectiveness, quality and risk reduction all the way through the development process. </a:t>
            </a:r>
          </a:p>
          <a:p>
            <a:r>
              <a:rPr lang="en-US" sz="2800" dirty="0"/>
              <a:t>Teams may satisfy client expectations, manage projects more effectively and produce dependable software by conforming to a specified SDLC. </a:t>
            </a:r>
          </a:p>
          <a:p>
            <a:endParaRPr lang="en-US" sz="2700" dirty="0"/>
          </a:p>
        </p:txBody>
      </p:sp>
      <p:pic>
        <p:nvPicPr>
          <p:cNvPr id="4" name="Picture 2" descr="Significance of Software Development Life Cycle (SDLC) | by ...">
            <a:extLst>
              <a:ext uri="{FF2B5EF4-FFF2-40B4-BE49-F238E27FC236}">
                <a16:creationId xmlns:a16="http://schemas.microsoft.com/office/drawing/2014/main" id="{77FD3AED-2D10-C0B4-7C77-865853A7A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2630" y="1883230"/>
            <a:ext cx="4093028" cy="4116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AB6E463-FDB0-A8EF-A63D-D66C30D230EE}"/>
              </a:ext>
            </a:extLst>
          </p:cNvPr>
          <p:cNvSpPr txBox="1"/>
          <p:nvPr/>
        </p:nvSpPr>
        <p:spPr>
          <a:xfrm>
            <a:off x="5529942" y="5975703"/>
            <a:ext cx="22439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2: SDLC Phases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514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User Needs vs. System Requirements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BFC1FC3-6059-DF77-8045-C863F0A078F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2100392"/>
              </p:ext>
            </p:extLst>
          </p:nvPr>
        </p:nvGraphicFramePr>
        <p:xfrm>
          <a:off x="740228" y="1525472"/>
          <a:ext cx="7794172" cy="45596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97086">
                  <a:extLst>
                    <a:ext uri="{9D8B030D-6E8A-4147-A177-3AD203B41FA5}">
                      <a16:colId xmlns:a16="http://schemas.microsoft.com/office/drawing/2014/main" val="2399255289"/>
                    </a:ext>
                  </a:extLst>
                </a:gridCol>
                <a:gridCol w="3897086">
                  <a:extLst>
                    <a:ext uri="{9D8B030D-6E8A-4147-A177-3AD203B41FA5}">
                      <a16:colId xmlns:a16="http://schemas.microsoft.com/office/drawing/2014/main" val="1012385970"/>
                    </a:ext>
                  </a:extLst>
                </a:gridCol>
              </a:tblGrid>
              <a:tr h="4859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Needs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System Requirements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285270412"/>
                  </a:ext>
                </a:extLst>
              </a:tr>
              <a:tr h="119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High-level goals or expectations of the user.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Detailed technical specifications the system must fulfill.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418071247"/>
                  </a:ext>
                </a:extLst>
              </a:tr>
              <a:tr h="1198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Described from the user's point of view.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Described from the developer's or system designer's perspective.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4124619926"/>
                  </a:ext>
                </a:extLst>
              </a:tr>
              <a:tr h="838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Broad and general.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Specific, measurable and testable.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47343035"/>
                  </a:ext>
                </a:extLst>
              </a:tr>
              <a:tr h="8387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To understand what users want or expect.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To guide system design, development and testing.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065918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1257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Business vs. Technical Requirements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3194EBF-4BD1-585F-9B53-38EAE2576E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6917428"/>
              </p:ext>
            </p:extLst>
          </p:nvPr>
        </p:nvGraphicFramePr>
        <p:xfrm>
          <a:off x="457200" y="1600200"/>
          <a:ext cx="8229600" cy="4484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44777820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685856118"/>
                    </a:ext>
                  </a:extLst>
                </a:gridCol>
              </a:tblGrid>
              <a:tr h="443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Business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Technical Requirements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3660387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High-level goals that the organization wants to achieve.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Specific technical solutions to meet business requirements.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5457610"/>
                  </a:ext>
                </a:extLst>
              </a:tr>
              <a:tr h="764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What the business needs.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How the system will fulfill those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93708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Defined by business stakeholders (e.g., clients, managers).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Defined by technical team (e.g., developers, architects).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5441611"/>
                  </a:ext>
                </a:extLst>
              </a:tr>
              <a:tr h="10924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Increase online sales by 20%, reduce processing time.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Use of a secure payment gateway, implementation of necessary APIs.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497805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416152"/>
            <a:ext cx="70104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Functional Requirements</a:t>
            </a:r>
            <a:r>
              <a:rPr lang="en-US" b="1" dirty="0"/>
              <a:t> and Non-Functional Requirements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00944"/>
            <a:ext cx="8686800" cy="4049486"/>
          </a:xfrm>
        </p:spPr>
        <p:txBody>
          <a:bodyPr/>
          <a:lstStyle/>
          <a:p>
            <a:pPr algn="just"/>
            <a:r>
              <a:rPr lang="en-US" dirty="0"/>
              <a:t>FR d</a:t>
            </a:r>
            <a:r>
              <a:rPr dirty="0"/>
              <a:t>efine</a:t>
            </a:r>
            <a:r>
              <a:rPr lang="en-US" dirty="0"/>
              <a:t>s</a:t>
            </a:r>
            <a:r>
              <a:rPr dirty="0"/>
              <a:t> system behavior and functions</a:t>
            </a:r>
            <a:r>
              <a:rPr lang="en-US" dirty="0"/>
              <a:t>.</a:t>
            </a:r>
            <a:endParaRPr dirty="0"/>
          </a:p>
          <a:p>
            <a:pPr marL="0" indent="0" algn="just">
              <a:buNone/>
            </a:pPr>
            <a:r>
              <a:rPr lang="en-US" dirty="0"/>
              <a:t>    </a:t>
            </a:r>
            <a:r>
              <a:rPr dirty="0"/>
              <a:t>Example: “System must allow users to log in”</a:t>
            </a:r>
            <a:r>
              <a:rPr lang="en-US" dirty="0"/>
              <a:t>.</a:t>
            </a:r>
          </a:p>
          <a:p>
            <a:pPr algn="just"/>
            <a:r>
              <a:rPr lang="en-US" dirty="0"/>
              <a:t>NFR defines system attributes like performance, usability.</a:t>
            </a:r>
          </a:p>
          <a:p>
            <a:pPr algn="just"/>
            <a:r>
              <a:rPr lang="en-US" dirty="0"/>
              <a:t>Often affect user satisfaction.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775A6-87C8-B477-F124-70743E15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Functional vs. Non Functional Requirements - GeeksforGeeks">
            <a:extLst>
              <a:ext uri="{FF2B5EF4-FFF2-40B4-BE49-F238E27FC236}">
                <a16:creationId xmlns:a16="http://schemas.microsoft.com/office/drawing/2014/main" id="{20FE9715-F3C6-4D21-1C7A-E8EF1AD761A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6" descr="Lightbox">
            <a:extLst>
              <a:ext uri="{FF2B5EF4-FFF2-40B4-BE49-F238E27FC236}">
                <a16:creationId xmlns:a16="http://schemas.microsoft.com/office/drawing/2014/main" id="{A5031F7D-A5E0-A0AA-7986-53494BA487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1999" y="3428999"/>
            <a:ext cx="2188029" cy="2188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 descr="A comparison of a comparison between a system and a function&#10;&#10;AI-generated content may be incorrect.">
            <a:extLst>
              <a:ext uri="{FF2B5EF4-FFF2-40B4-BE49-F238E27FC236}">
                <a16:creationId xmlns:a16="http://schemas.microsoft.com/office/drawing/2014/main" id="{EB1826B3-86AB-C138-C446-656A88DDE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73" y="1850572"/>
            <a:ext cx="8883852" cy="418011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3CB574E-79FF-E52C-213D-56BEAABB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42900" y="174320"/>
            <a:ext cx="9525000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Functional Requirements</a:t>
            </a:r>
            <a:r>
              <a:rPr lang="en-US" b="1" dirty="0"/>
              <a:t> and  </a:t>
            </a:r>
            <a:br>
              <a:rPr lang="en-US" b="1" dirty="0"/>
            </a:br>
            <a:r>
              <a:rPr lang="en-US" b="1" dirty="0"/>
              <a:t>Non-Functional Requirements [Cont.]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3441839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4AB28-312E-9F76-DED9-7771B99E2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10A4-42BF-9891-8E32-F536790D6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600" b="1" dirty="0"/>
              <a:t>User, System</a:t>
            </a:r>
            <a:r>
              <a:rPr lang="en-US" sz="3600" b="1" dirty="0"/>
              <a:t> </a:t>
            </a:r>
            <a:r>
              <a:rPr sz="3600" b="1" dirty="0"/>
              <a:t>and Business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81D9D8-BC4C-A594-AE9C-EECDF4D7F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425543" cy="2286000"/>
          </a:xfrm>
        </p:spPr>
        <p:txBody>
          <a:bodyPr>
            <a:normAutofit fontScale="85000" lnSpcReduction="20000"/>
          </a:bodyPr>
          <a:lstStyle/>
          <a:p>
            <a:r>
              <a:rPr dirty="0"/>
              <a:t>User: What users expect to do</a:t>
            </a:r>
            <a:r>
              <a:rPr lang="en-US" dirty="0"/>
              <a:t>.</a:t>
            </a:r>
            <a:endParaRPr dirty="0"/>
          </a:p>
          <a:p>
            <a:r>
              <a:rPr dirty="0"/>
              <a:t>System: Detailed technical description</a:t>
            </a:r>
            <a:r>
              <a:rPr lang="en-US" dirty="0"/>
              <a:t>.</a:t>
            </a:r>
            <a:endParaRPr dirty="0"/>
          </a:p>
          <a:p>
            <a:r>
              <a:rPr dirty="0"/>
              <a:t>Business: Alignment with business goals</a:t>
            </a:r>
            <a:r>
              <a:rPr lang="en-US" dirty="0"/>
              <a:t>. From a business standpoint, business requirements specify what the software system must do in order for the company to reach its objectives.</a:t>
            </a:r>
            <a:endParaRPr dirty="0"/>
          </a:p>
        </p:txBody>
      </p:sp>
      <p:pic>
        <p:nvPicPr>
          <p:cNvPr id="4100" name="Picture 4" descr="Requirements Engineering ...">
            <a:extLst>
              <a:ext uri="{FF2B5EF4-FFF2-40B4-BE49-F238E27FC236}">
                <a16:creationId xmlns:a16="http://schemas.microsoft.com/office/drawing/2014/main" id="{48F247F7-6E34-2819-5EDC-01C07D3211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3401" y="3812263"/>
            <a:ext cx="5210856" cy="28910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878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165781"/>
            <a:ext cx="8229600" cy="1143000"/>
          </a:xfrm>
        </p:spPr>
        <p:txBody>
          <a:bodyPr>
            <a:normAutofit/>
          </a:bodyPr>
          <a:lstStyle/>
          <a:p>
            <a:r>
              <a:rPr sz="4000" b="1" dirty="0"/>
              <a:t>Examples of Critical NFRs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D938111-A441-75C4-F17E-8AFDACA56D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0894270"/>
              </p:ext>
            </p:extLst>
          </p:nvPr>
        </p:nvGraphicFramePr>
        <p:xfrm>
          <a:off x="1001486" y="1428523"/>
          <a:ext cx="7532914" cy="50509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929">
                  <a:extLst>
                    <a:ext uri="{9D8B030D-6E8A-4147-A177-3AD203B41FA5}">
                      <a16:colId xmlns:a16="http://schemas.microsoft.com/office/drawing/2014/main" val="1934388709"/>
                    </a:ext>
                  </a:extLst>
                </a:gridCol>
                <a:gridCol w="3594985">
                  <a:extLst>
                    <a:ext uri="{9D8B030D-6E8A-4147-A177-3AD203B41FA5}">
                      <a16:colId xmlns:a16="http://schemas.microsoft.com/office/drawing/2014/main" val="556203004"/>
                    </a:ext>
                  </a:extLst>
                </a:gridCol>
              </a:tblGrid>
              <a:tr h="4262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NFR Category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Example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2358875"/>
                  </a:ext>
                </a:extLst>
              </a:tr>
              <a:tr h="7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Performance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system shall handle </a:t>
                      </a:r>
                      <a:r>
                        <a:rPr lang="en-US" b="1"/>
                        <a:t>1000 transactions per second</a:t>
                      </a:r>
                      <a:r>
                        <a:rPr lang="en-US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7455448"/>
                  </a:ext>
                </a:extLst>
              </a:tr>
              <a:tr h="7357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Reliability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The system shall have </a:t>
                      </a:r>
                      <a:r>
                        <a:rPr lang="en-US" b="1" dirty="0"/>
                        <a:t>99.99% uptime</a:t>
                      </a:r>
                      <a:r>
                        <a:rPr lang="en-US" dirty="0"/>
                        <a:t> over a 12-month period.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3392287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Scalability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The system shall support </a:t>
                      </a:r>
                      <a:r>
                        <a:rPr lang="en-US" b="1"/>
                        <a:t>up to 10,000 concurrent users</a:t>
                      </a:r>
                      <a:r>
                        <a:rPr lang="en-US"/>
                        <a:t> without failure.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2751056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Security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All user data shall be </a:t>
                      </a:r>
                      <a:r>
                        <a:rPr lang="en-US" b="1" dirty="0"/>
                        <a:t>encrypted using AES-256</a:t>
                      </a:r>
                      <a:r>
                        <a:rPr lang="en-US" dirty="0"/>
                        <a:t> during transmission.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4044308"/>
                  </a:ext>
                </a:extLst>
              </a:tr>
              <a:tr h="1051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Usability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New users shall be able to learn to use the system within </a:t>
                      </a:r>
                      <a:r>
                        <a:rPr lang="en-US" b="1" dirty="0"/>
                        <a:t>30 minutes</a:t>
                      </a:r>
                      <a:r>
                        <a:rPr lang="en-US" dirty="0"/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23728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247" y="393047"/>
            <a:ext cx="8573038" cy="1043866"/>
          </a:xfrm>
        </p:spPr>
        <p:txBody>
          <a:bodyPr anchor="b">
            <a:noAutofit/>
          </a:bodyPr>
          <a:lstStyle/>
          <a:p>
            <a:r>
              <a:rPr lang="en-US" sz="4000" b="1" dirty="0"/>
              <a:t>Requirements Engineering Phases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715" y="2044964"/>
            <a:ext cx="4426111" cy="3583133"/>
          </a:xfrm>
        </p:spPr>
        <p:txBody>
          <a:bodyPr anchor="t">
            <a:noAutofit/>
          </a:bodyPr>
          <a:lstStyle/>
          <a:p>
            <a:r>
              <a:rPr lang="en-US" sz="2500" dirty="0"/>
              <a:t>The phases are:</a:t>
            </a:r>
          </a:p>
          <a:p>
            <a:pPr marL="514350" indent="-514350">
              <a:buAutoNum type="arabicPeriod"/>
            </a:pPr>
            <a:r>
              <a:rPr lang="en-US" sz="2500" dirty="0"/>
              <a:t>Inception</a:t>
            </a:r>
          </a:p>
          <a:p>
            <a:pPr marL="514350" indent="-514350">
              <a:buAutoNum type="arabicPeriod"/>
            </a:pPr>
            <a:r>
              <a:rPr lang="en-US" sz="2500" dirty="0"/>
              <a:t>Elicitation </a:t>
            </a:r>
          </a:p>
          <a:p>
            <a:pPr marL="514350" indent="-514350">
              <a:buAutoNum type="arabicPeriod"/>
            </a:pPr>
            <a:r>
              <a:rPr lang="en-US" sz="2500" dirty="0"/>
              <a:t>Elaboration</a:t>
            </a:r>
          </a:p>
          <a:p>
            <a:pPr marL="514350" indent="-514350">
              <a:buAutoNum type="arabicPeriod"/>
            </a:pPr>
            <a:r>
              <a:rPr lang="en-US" sz="2500" dirty="0"/>
              <a:t>Negotiation</a:t>
            </a:r>
          </a:p>
          <a:p>
            <a:pPr marL="514350" indent="-514350">
              <a:buAutoNum type="arabicPeriod"/>
            </a:pPr>
            <a:r>
              <a:rPr lang="en-US" sz="2500" dirty="0"/>
              <a:t>Specification </a:t>
            </a:r>
          </a:p>
          <a:p>
            <a:pPr marL="514350" indent="-514350">
              <a:buAutoNum type="arabicPeriod"/>
            </a:pPr>
            <a:r>
              <a:rPr lang="en-US" sz="2500" dirty="0"/>
              <a:t>Validation </a:t>
            </a:r>
          </a:p>
          <a:p>
            <a:pPr marL="514350" indent="-514350">
              <a:buAutoNum type="arabicPeriod"/>
            </a:pPr>
            <a:r>
              <a:rPr lang="en-US" sz="2500" dirty="0"/>
              <a:t>Req. Management</a:t>
            </a:r>
          </a:p>
          <a:p>
            <a:pPr marL="514350" indent="-514350">
              <a:buAutoNum type="arabicPeriod"/>
            </a:pPr>
            <a:endParaRPr lang="en-US" sz="2500" dirty="0"/>
          </a:p>
          <a:p>
            <a:r>
              <a:rPr lang="en-US" sz="2500" dirty="0"/>
              <a:t>Cyclical and iterative process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C7ADEC58-A04C-E9B3-5CDD-2FA8A2E30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6372" y="2034091"/>
            <a:ext cx="4792009" cy="3594006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051478" y="0"/>
            <a:ext cx="92522" cy="6858000"/>
            <a:chOff x="12068638" y="0"/>
            <a:chExt cx="123362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3022A30-B413-E773-5EEF-733057C24E85}"/>
              </a:ext>
            </a:extLst>
          </p:cNvPr>
          <p:cNvSpPr txBox="1"/>
          <p:nvPr/>
        </p:nvSpPr>
        <p:spPr>
          <a:xfrm>
            <a:off x="5435209" y="5628097"/>
            <a:ext cx="2014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3: RE Phases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1. Inception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8" y="1249022"/>
            <a:ext cx="8512629" cy="2939144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This phase involves identifying the initial idea and understanding the basic needs and scope of the project. </a:t>
            </a:r>
          </a:p>
          <a:p>
            <a:pPr algn="just"/>
            <a:r>
              <a:rPr lang="en-US" sz="2800" dirty="0"/>
              <a:t>It sets the foundation for further detailed analysis and planning.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0CCC2DA-CACE-6C3A-34F8-20003F329DF0}"/>
              </a:ext>
            </a:extLst>
          </p:cNvPr>
          <p:cNvSpPr txBox="1">
            <a:spLocks/>
          </p:cNvSpPr>
          <p:nvPr/>
        </p:nvSpPr>
        <p:spPr>
          <a:xfrm>
            <a:off x="-97971" y="3713556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2. Elicitation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A225329-D186-A1C5-A27E-D485F57E25C0}"/>
              </a:ext>
            </a:extLst>
          </p:cNvPr>
          <p:cNvSpPr txBox="1">
            <a:spLocks/>
          </p:cNvSpPr>
          <p:nvPr/>
        </p:nvSpPr>
        <p:spPr>
          <a:xfrm>
            <a:off x="533398" y="4391080"/>
            <a:ext cx="7794175" cy="210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During elicitation, requirements are gathered from stakeholders using some techniques.</a:t>
            </a:r>
          </a:p>
          <a:p>
            <a:pPr algn="just"/>
            <a:r>
              <a:rPr lang="en-US" sz="2800" dirty="0"/>
              <a:t>Understanding stakeholders’ real needs.</a:t>
            </a:r>
          </a:p>
          <a:p>
            <a:pPr algn="just"/>
            <a:r>
              <a:rPr lang="en-US" sz="2800" dirty="0"/>
              <a:t>Techniques: Interviews, Surveys, Workshops.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7B6A5-C308-FF78-D8D5-681758DEB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ADC9E-B8D7-8520-7035-3461AF63F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3. Elaboration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7CDAA-9525-A028-8213-B8950BB213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1249022"/>
            <a:ext cx="8632372" cy="18954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In this phase, requirements are analyzed and refined to resolve ambiguities, define detailed specifications and establish a clear understanding of functionalities of the system.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591D33E-D486-7EEA-F30E-3588CE1D506B}"/>
              </a:ext>
            </a:extLst>
          </p:cNvPr>
          <p:cNvSpPr txBox="1">
            <a:spLocks/>
          </p:cNvSpPr>
          <p:nvPr/>
        </p:nvSpPr>
        <p:spPr>
          <a:xfrm>
            <a:off x="-97971" y="3231372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4. Negotiation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235C55F-034E-4277-F6AF-824F92D75311}"/>
              </a:ext>
            </a:extLst>
          </p:cNvPr>
          <p:cNvSpPr txBox="1">
            <a:spLocks/>
          </p:cNvSpPr>
          <p:nvPr/>
        </p:nvSpPr>
        <p:spPr>
          <a:xfrm>
            <a:off x="315685" y="4141028"/>
            <a:ext cx="8545286" cy="21024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Here, conflicting requirements are resolved through discussions with stakeholders, prioritizing needs and reaching an agreement on the most feasible and valuable features.</a:t>
            </a:r>
          </a:p>
        </p:txBody>
      </p:sp>
    </p:spTree>
    <p:extLst>
      <p:ext uri="{BB962C8B-B14F-4D97-AF65-F5344CB8AC3E}">
        <p14:creationId xmlns:p14="http://schemas.microsoft.com/office/powerpoint/2010/main" val="20704771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78804-D76C-2A7D-04DD-BFFEBFB7D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263BE-5B0D-93B1-7C24-F7EFAFD9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973" y="470310"/>
            <a:ext cx="2971800" cy="898725"/>
          </a:xfrm>
        </p:spPr>
        <p:txBody>
          <a:bodyPr>
            <a:normAutofit/>
          </a:bodyPr>
          <a:lstStyle/>
          <a:p>
            <a:r>
              <a:rPr lang="en-US" sz="3200" b="1" dirty="0"/>
              <a:t>  5. Specification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4A6EE-2341-2A0A-2E2E-3F60DD0AD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685" y="1249022"/>
            <a:ext cx="8632372" cy="1895422"/>
          </a:xfrm>
        </p:spPr>
        <p:txBody>
          <a:bodyPr>
            <a:normAutofit/>
          </a:bodyPr>
          <a:lstStyle/>
          <a:p>
            <a:pPr algn="just"/>
            <a:r>
              <a:rPr lang="en-US" sz="2800" dirty="0"/>
              <a:t>Need to create a documentation based on requirements (like SRS, PRD).</a:t>
            </a:r>
          </a:p>
          <a:p>
            <a:pPr algn="just"/>
            <a:r>
              <a:rPr lang="en-US" sz="2800" dirty="0"/>
              <a:t>Clarity, consistency, completeness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AAF0FA0-9348-5108-677F-5061AA91617F}"/>
              </a:ext>
            </a:extLst>
          </p:cNvPr>
          <p:cNvSpPr txBox="1">
            <a:spLocks/>
          </p:cNvSpPr>
          <p:nvPr/>
        </p:nvSpPr>
        <p:spPr>
          <a:xfrm>
            <a:off x="-293915" y="2891144"/>
            <a:ext cx="3363688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 6. Validation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D26E3F7-07B1-6648-1464-AE1B691F698D}"/>
              </a:ext>
            </a:extLst>
          </p:cNvPr>
          <p:cNvSpPr txBox="1">
            <a:spLocks/>
          </p:cNvSpPr>
          <p:nvPr/>
        </p:nvSpPr>
        <p:spPr>
          <a:xfrm>
            <a:off x="299357" y="3708655"/>
            <a:ext cx="8648700" cy="267903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This phase verifies that the documented requirements accurately reflect stakeholder needs and are feasible, ensuring that the system will meet its intended purpose.</a:t>
            </a:r>
          </a:p>
          <a:p>
            <a:pPr algn="just"/>
            <a:r>
              <a:rPr lang="en-US" sz="2800" dirty="0"/>
              <a:t>Checking for correctness, feasibility.</a:t>
            </a:r>
          </a:p>
          <a:p>
            <a:pPr algn="just"/>
            <a:r>
              <a:rPr lang="en-US" sz="2800" dirty="0"/>
              <a:t>Techniques: Reviews, Prototyping</a:t>
            </a:r>
          </a:p>
        </p:txBody>
      </p:sp>
    </p:spTree>
    <p:extLst>
      <p:ext uri="{BB962C8B-B14F-4D97-AF65-F5344CB8AC3E}">
        <p14:creationId xmlns:p14="http://schemas.microsoft.com/office/powerpoint/2010/main" val="9911605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D6FA5-18C1-F1F6-AAEE-03B78F108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8AD91E3-729E-93DC-2E23-1A027DC28590}"/>
              </a:ext>
            </a:extLst>
          </p:cNvPr>
          <p:cNvSpPr txBox="1">
            <a:spLocks/>
          </p:cNvSpPr>
          <p:nvPr/>
        </p:nvSpPr>
        <p:spPr>
          <a:xfrm>
            <a:off x="-479115" y="554553"/>
            <a:ext cx="7151915" cy="691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/>
              <a:t>7. Requirements Management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B06F10C7-A180-143B-2B88-0A1B620644B4}"/>
              </a:ext>
            </a:extLst>
          </p:cNvPr>
          <p:cNvSpPr txBox="1">
            <a:spLocks/>
          </p:cNvSpPr>
          <p:nvPr/>
        </p:nvSpPr>
        <p:spPr>
          <a:xfrm>
            <a:off x="408214" y="1389998"/>
            <a:ext cx="8648700" cy="20390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dirty="0"/>
              <a:t>Throughout the project, requirements are managed to accommodate changes, track revisions and ensure that the evolving needs are properly incorporated and controlled.</a:t>
            </a:r>
          </a:p>
        </p:txBody>
      </p:sp>
      <p:pic>
        <p:nvPicPr>
          <p:cNvPr id="11" name="Picture 10" descr="A circular object with text&#10;&#10;AI-generated content may be incorrect.">
            <a:extLst>
              <a:ext uri="{FF2B5EF4-FFF2-40B4-BE49-F238E27FC236}">
                <a16:creationId xmlns:a16="http://schemas.microsoft.com/office/drawing/2014/main" id="{9042B9AF-F0AA-3085-AFBA-C9AE69510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969" y="3151064"/>
            <a:ext cx="5955190" cy="340213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DC72561-DEAD-6513-BA7E-07B0065FB0A7}"/>
              </a:ext>
            </a:extLst>
          </p:cNvPr>
          <p:cNvSpPr txBox="1"/>
          <p:nvPr/>
        </p:nvSpPr>
        <p:spPr>
          <a:xfrm>
            <a:off x="2944728" y="6285513"/>
            <a:ext cx="3728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Figure 4: Requirements Management</a:t>
            </a:r>
          </a:p>
        </p:txBody>
      </p:sp>
    </p:spTree>
    <p:extLst>
      <p:ext uri="{BB962C8B-B14F-4D97-AF65-F5344CB8AC3E}">
        <p14:creationId xmlns:p14="http://schemas.microsoft.com/office/powerpoint/2010/main" val="108708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399" y="274638"/>
            <a:ext cx="9100457" cy="1143000"/>
          </a:xfrm>
        </p:spPr>
        <p:txBody>
          <a:bodyPr>
            <a:normAutofit fontScale="90000"/>
          </a:bodyPr>
          <a:lstStyle/>
          <a:p>
            <a:r>
              <a:rPr b="1" dirty="0"/>
              <a:t>Challenges in Requirements Engineering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FA18C59-7FED-C7E3-3E88-CACDC22192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4444261"/>
              </p:ext>
            </p:extLst>
          </p:nvPr>
        </p:nvGraphicFramePr>
        <p:xfrm>
          <a:off x="457200" y="1600200"/>
          <a:ext cx="8229600" cy="4942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83376115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5302401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36817381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Challenge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Impact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6931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Incomplete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Some requirements are missing or not well-defined.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Leads to system failures or unmet user expectations.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51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Changing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Requirements evolve due to business, market, or user changes.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Causes rework, delays, and increased cost.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92258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Ambiguous Requirements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Requirements are vague or open to multiple interpretations.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Results in incorrect implementation.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8453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Stakeholder Communication Gap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Misunderstandings between developers and non-technical stakeholders.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Misalignment between product and stakeholder needs.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2855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Lack of Domain Knowledge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Development team lacks understanding of the user’s environment or business.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Results in irrelevant or impractical system functionality.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84430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3298371" cy="1143000"/>
          </a:xfrm>
        </p:spPr>
        <p:txBody>
          <a:bodyPr>
            <a:normAutofit/>
          </a:bodyPr>
          <a:lstStyle/>
          <a:p>
            <a:r>
              <a:rPr sz="4000" b="1" dirty="0"/>
              <a:t>Scope Creep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6686" y="1469571"/>
            <a:ext cx="8360228" cy="2231571"/>
          </a:xfrm>
        </p:spPr>
        <p:txBody>
          <a:bodyPr>
            <a:normAutofit lnSpcReduction="10000"/>
          </a:bodyPr>
          <a:lstStyle/>
          <a:p>
            <a:pPr algn="just"/>
            <a:r>
              <a:rPr dirty="0"/>
              <a:t>Uncontrolled changes in requirements</a:t>
            </a:r>
            <a:r>
              <a:rPr lang="en-US" dirty="0"/>
              <a:t>.</a:t>
            </a:r>
            <a:endParaRPr dirty="0"/>
          </a:p>
          <a:p>
            <a:pPr algn="just"/>
            <a:r>
              <a:rPr dirty="0"/>
              <a:t>Impact: Delays, budget overruns</a:t>
            </a:r>
            <a:r>
              <a:rPr lang="en-US" dirty="0"/>
              <a:t>.</a:t>
            </a:r>
            <a:endParaRPr dirty="0"/>
          </a:p>
          <a:p>
            <a:pPr algn="just"/>
            <a:r>
              <a:rPr dirty="0"/>
              <a:t>Prevention: Clear</a:t>
            </a:r>
            <a:r>
              <a:rPr lang="en-US" dirty="0"/>
              <a:t> </a:t>
            </a:r>
            <a:r>
              <a:rPr dirty="0"/>
              <a:t>documentation, approval processes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A3C9EB7-61B3-3C8C-8942-A919DF30E1EC}"/>
              </a:ext>
            </a:extLst>
          </p:cNvPr>
          <p:cNvSpPr txBox="1">
            <a:spLocks/>
          </p:cNvSpPr>
          <p:nvPr/>
        </p:nvSpPr>
        <p:spPr>
          <a:xfrm>
            <a:off x="696686" y="4272643"/>
            <a:ext cx="8229600" cy="19703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Between stakeholders and developers.</a:t>
            </a:r>
          </a:p>
          <a:p>
            <a:pPr algn="just"/>
            <a:r>
              <a:rPr lang="en-US" dirty="0"/>
              <a:t>Causes misunderstandings.</a:t>
            </a:r>
          </a:p>
          <a:p>
            <a:pPr algn="just"/>
            <a:r>
              <a:rPr lang="en-US" dirty="0"/>
              <a:t>Solutions: Prototypes, regular meetings.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9BEBF46-267F-8245-25FA-C5F50EB76A76}"/>
              </a:ext>
            </a:extLst>
          </p:cNvPr>
          <p:cNvSpPr txBox="1">
            <a:spLocks/>
          </p:cNvSpPr>
          <p:nvPr/>
        </p:nvSpPr>
        <p:spPr>
          <a:xfrm>
            <a:off x="-881744" y="3333524"/>
            <a:ext cx="738051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  Communication Gaps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75104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4000" b="1" dirty="0"/>
              <a:t>Impact of Poor Requirements</a:t>
            </a:r>
            <a:r>
              <a:rPr lang="en-US" sz="4000" b="1" dirty="0"/>
              <a:t> in S/W Projects </a:t>
            </a:r>
            <a:endParaRPr sz="40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4790"/>
            <a:ext cx="8534400" cy="4983162"/>
          </a:xfrm>
        </p:spPr>
        <p:txBody>
          <a:bodyPr>
            <a:noAutofit/>
          </a:bodyPr>
          <a:lstStyle/>
          <a:p>
            <a:pPr algn="just"/>
            <a:r>
              <a:rPr sz="2600" dirty="0"/>
              <a:t>Inaccurate scope, budget issues</a:t>
            </a:r>
            <a:r>
              <a:rPr lang="en-US" sz="2600" dirty="0"/>
              <a:t>.</a:t>
            </a:r>
            <a:endParaRPr sz="2600" dirty="0"/>
          </a:p>
          <a:p>
            <a:pPr algn="just"/>
            <a:r>
              <a:rPr sz="2600" dirty="0"/>
              <a:t>Failed projects due to misunderstood requirements</a:t>
            </a:r>
            <a:r>
              <a:rPr lang="en-US" sz="2600" dirty="0"/>
              <a:t>.</a:t>
            </a:r>
          </a:p>
          <a:p>
            <a:pPr algn="just"/>
            <a:r>
              <a:rPr lang="en-US" sz="2600" dirty="0"/>
              <a:t>Cause misunderstandings and misaligned expectations.  </a:t>
            </a:r>
          </a:p>
          <a:p>
            <a:pPr algn="just"/>
            <a:r>
              <a:rPr lang="en-US" sz="2600" dirty="0"/>
              <a:t>For example, the FBI Virtual Case File project failed because of vague and incomplete requirements, resulting in a significant budget overrun and eventual cancellation.</a:t>
            </a:r>
          </a:p>
          <a:p>
            <a:pPr algn="just"/>
            <a:r>
              <a:rPr lang="en-US" sz="2600" dirty="0"/>
              <a:t>Another case is the Denver International Airport's automated baggage handling system, which was plagued by unclear requirements, leading to extensive delays and cost overruns.</a:t>
            </a:r>
            <a:endParaRPr sz="2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244476"/>
            <a:ext cx="4114800" cy="1143000"/>
          </a:xfrm>
        </p:spPr>
        <p:txBody>
          <a:bodyPr>
            <a:normAutofit/>
          </a:bodyPr>
          <a:lstStyle/>
          <a:p>
            <a:r>
              <a:rPr sz="4000" b="1" dirty="0"/>
              <a:t>Boehm’s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According to Boehm's Law, commonly referred to as the Law of Costly Errors, the later a software flaw is discovered in the development lifecycle, the more expensive it is to solution. </a:t>
            </a:r>
          </a:p>
          <a:p>
            <a:pPr algn="just"/>
            <a:r>
              <a:rPr lang="en-US" dirty="0"/>
              <a:t>To put it simply, it will cost significantly more to fix a bug during testing than it will to cure it during developing and it will cost even more to solve a bug after the software has been deployed. </a:t>
            </a:r>
            <a:endParaRPr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83356" y="1928731"/>
            <a:ext cx="3333749" cy="2624327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7991D86-FA3A-F921-F382-B8D5946DF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525" y="1967266"/>
            <a:ext cx="1971675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1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Boehm’s Law (Cont.)</a:t>
            </a:r>
          </a:p>
        </p:txBody>
      </p:sp>
      <p:pic>
        <p:nvPicPr>
          <p:cNvPr id="6" name="Content Placeholder 5" descr="A graph with arrows pointing to a line&#10;&#10;AI-generated content may be incorrect.">
            <a:extLst>
              <a:ext uri="{FF2B5EF4-FFF2-40B4-BE49-F238E27FC236}">
                <a16:creationId xmlns:a16="http://schemas.microsoft.com/office/drawing/2014/main" id="{3300B9E0-A3F0-B2BD-9464-6E180E73F3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310844" y="1574020"/>
            <a:ext cx="5713413" cy="3484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014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73E29-5E01-8D89-0E4C-70BA5D337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</p:spPr>
        <p:txBody>
          <a:bodyPr>
            <a:normAutofit/>
          </a:bodyPr>
          <a:lstStyle/>
          <a:p>
            <a:r>
              <a:rPr lang="en-US" sz="4000" b="1" dirty="0"/>
              <a:t>User Stories vs Traditional SRS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CF13681-9621-30DA-0C56-EA92EC4DE2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435101"/>
              </p:ext>
            </p:extLst>
          </p:nvPr>
        </p:nvGraphicFramePr>
        <p:xfrm>
          <a:off x="1371600" y="2276797"/>
          <a:ext cx="6760030" cy="4116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0015">
                  <a:extLst>
                    <a:ext uri="{9D8B030D-6E8A-4147-A177-3AD203B41FA5}">
                      <a16:colId xmlns:a16="http://schemas.microsoft.com/office/drawing/2014/main" val="2332568039"/>
                    </a:ext>
                  </a:extLst>
                </a:gridCol>
                <a:gridCol w="3380015">
                  <a:extLst>
                    <a:ext uri="{9D8B030D-6E8A-4147-A177-3AD203B41FA5}">
                      <a16:colId xmlns:a16="http://schemas.microsoft.com/office/drawing/2014/main" val="867260561"/>
                    </a:ext>
                  </a:extLst>
                </a:gridCol>
              </a:tblGrid>
              <a:tr h="3674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User Stories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Traditional SRS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6230622"/>
                  </a:ext>
                </a:extLst>
              </a:tr>
              <a:tr h="90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Simple, informal sentence: “As a [user], I want [feature]…”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 Formal, structured document with detailed sections and specifications.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00548398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User needs and outcomes.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2. System functionalities and technical details.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2923680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Iterative, incremental development.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3. Upfront, comprehensive documentation.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125066"/>
                  </a:ext>
                </a:extLst>
              </a:tr>
              <a:tr h="9060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Lightweight and minimal (Agile: Scrum, XP etc.).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4. Heavyweight, exhaustive documentation (Waterfall, V-model etc.).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0766799"/>
                  </a:ext>
                </a:extLst>
              </a:tr>
              <a:tr h="6342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Highly adaptable to change.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5. Difficult and costly to change once finalized.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949848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D70CE0D-067F-F9DD-440D-9BA920A0BAD1}"/>
              </a:ext>
            </a:extLst>
          </p:cNvPr>
          <p:cNvSpPr txBox="1"/>
          <p:nvPr/>
        </p:nvSpPr>
        <p:spPr>
          <a:xfrm>
            <a:off x="1295400" y="1251857"/>
            <a:ext cx="69124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User stories: Simple, customer-focused statements.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400" dirty="0"/>
              <a:t>SRS: Software Requirements Specification.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434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0C25B-CDFB-EE65-FD2F-42660CDAC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369C3-F8FE-1A1C-03D3-94C31942A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249466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/>
              <a:t>The  Requirements  Baseline</a:t>
            </a:r>
            <a:endParaRPr sz="40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D08A0A-42EA-07A4-0A9B-31418EE12F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322161"/>
            <a:ext cx="8556171" cy="5035096"/>
          </a:xfrm>
        </p:spPr>
        <p:txBody>
          <a:bodyPr>
            <a:no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1800" dirty="0">
                <a:highlight>
                  <a:srgbClr val="00FFFF"/>
                </a:highlight>
              </a:rPr>
              <a:t>A requirements baseline is a set of requirements that has been reviewed and agreed upon and serves as the basis for further development.</a:t>
            </a:r>
          </a:p>
          <a:p>
            <a:pPr algn="just">
              <a:buFont typeface="Wingdings" panose="05000000000000000000" pitchFamily="2" charset="2"/>
              <a:buChar char="q"/>
            </a:pPr>
            <a:endParaRPr lang="en-US" sz="1800" dirty="0"/>
          </a:p>
          <a:p>
            <a:pPr algn="just">
              <a:buFont typeface="Wingdings" panose="05000000000000000000" pitchFamily="2" charset="2"/>
              <a:buChar char="v"/>
            </a:pPr>
            <a:r>
              <a:rPr lang="en-US" sz="1800" dirty="0"/>
              <a:t>A meaningful baselining process gives all the major stakeholders confidence in the following ways: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Customer management</a:t>
            </a:r>
            <a:r>
              <a:rPr lang="en-US" sz="1800" dirty="0"/>
              <a:t> or marketing is confident that the project scope won’t explode out of control, because customers manage the scope change decisions.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User representatives </a:t>
            </a:r>
            <a:r>
              <a:rPr lang="en-US" sz="1800" dirty="0"/>
              <a:t>have confidence that the development team will work with them to deliver the right solution, even if they didn’t think of every requirement before construction began.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Development management </a:t>
            </a:r>
            <a:r>
              <a:rPr lang="en-US" sz="1800" dirty="0"/>
              <a:t>has confidence because the development team has a business partner who will keep the project focused on achieving its objectives and will work with development to balance schedule, </a:t>
            </a:r>
            <a:br>
              <a:rPr lang="en-US" sz="1800" dirty="0"/>
            </a:br>
            <a:r>
              <a:rPr lang="en-US" sz="1800" dirty="0"/>
              <a:t>cost, functionality, and quality.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Business analysts </a:t>
            </a:r>
            <a:r>
              <a:rPr lang="en-US" sz="1800" dirty="0"/>
              <a:t>and project managers are confident that they can manage changes to the project in a way that will keep chaos to a minimum.</a:t>
            </a:r>
          </a:p>
          <a:p>
            <a:pPr algn="just"/>
            <a:r>
              <a:rPr lang="en-US" sz="1800" dirty="0">
                <a:highlight>
                  <a:srgbClr val="00FFFF"/>
                </a:highlight>
              </a:rPr>
              <a:t>Quality assurance </a:t>
            </a:r>
            <a:r>
              <a:rPr lang="en-US" sz="1800" dirty="0"/>
              <a:t>and test teams can confidently develop their test scripts and be fully prepared for their project activities.</a:t>
            </a:r>
          </a:p>
        </p:txBody>
      </p:sp>
    </p:spTree>
    <p:extLst>
      <p:ext uri="{BB962C8B-B14F-4D97-AF65-F5344CB8AC3E}">
        <p14:creationId xmlns:p14="http://schemas.microsoft.com/office/powerpoint/2010/main" val="11164493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2D2E4-5F93-FD9A-55E0-B5F6BCA1E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F37DC-FC50-E6D4-C65C-6106A077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/>
              <a:t>Shift-Left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12B7A-DAEC-C691-3A7D-2A1488EB2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1586820"/>
            <a:ext cx="8610600" cy="4525963"/>
          </a:xfrm>
        </p:spPr>
        <p:txBody>
          <a:bodyPr/>
          <a:lstStyle/>
          <a:p>
            <a:pPr algn="just"/>
            <a:r>
              <a:rPr lang="en-US" dirty="0"/>
              <a:t>A software testing approach that involves performing testing activities early in the software development life cycle (SDLC), typically during the requirements, design or development phases, instead of waiting until after implementation.</a:t>
            </a:r>
          </a:p>
          <a:p>
            <a:pPr algn="just"/>
            <a:r>
              <a:rPr dirty="0"/>
              <a:t>Shift-left testing: Test early</a:t>
            </a:r>
            <a:r>
              <a:rPr lang="en-US" dirty="0"/>
              <a:t>; Test before implementation;</a:t>
            </a:r>
            <a:r>
              <a:rPr dirty="0"/>
              <a:t> </a:t>
            </a:r>
            <a:r>
              <a:rPr lang="en-US" dirty="0"/>
              <a:t>T</a:t>
            </a:r>
            <a:r>
              <a:rPr dirty="0"/>
              <a:t>est often using requirements</a:t>
            </a:r>
            <a:r>
              <a:rPr lang="en-US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94050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F57A-175A-0F17-DB3A-3DDDA1D0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ACCB1-F9F1-FC9F-4019-8335C5BE4A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hlinkClick r:id="rId2"/>
              </a:rPr>
              <a:t>https://datarob.com/essentials-software-development-life-cycle/</a:t>
            </a:r>
          </a:p>
          <a:p>
            <a:r>
              <a:rPr lang="en-US" sz="2000" dirty="0">
                <a:hlinkClick r:id="rId2"/>
              </a:rPr>
              <a:t>https://www.geeksforgeeks.org/software-engineering/functional-vs-non-functional-requirements/</a:t>
            </a:r>
          </a:p>
          <a:p>
            <a:r>
              <a:rPr lang="en-US" sz="2000" dirty="0">
                <a:hlinkClick r:id="rId2"/>
              </a:rPr>
              <a:t>https://dribbble.com/shots/4715049-Requirement-Engineering-Process</a:t>
            </a:r>
          </a:p>
          <a:p>
            <a:r>
              <a:rPr lang="en-US" sz="2000" dirty="0">
                <a:hlinkClick r:id="rId2"/>
              </a:rPr>
              <a:t>https://xebrio.com/what-is-requirements-management-a-complete-guide/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3"/>
              </a:rPr>
              <a:t>https://www.geeksforgeeks.org/software-engineering/software-engineering-challenges-eliciting-requirements/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4"/>
              </a:rPr>
              <a:t>https://rnjn.in/glossary/boehms-law/</a:t>
            </a:r>
            <a:r>
              <a:rPr lang="en-US" sz="2000" dirty="0"/>
              <a:t> </a:t>
            </a:r>
          </a:p>
          <a:p>
            <a:r>
              <a:rPr lang="en-US" sz="2000" dirty="0">
                <a:hlinkClick r:id="rId5"/>
              </a:rPr>
              <a:t>https://www.atlassian.com/devops/what-is-devops/agile-vs-devops</a:t>
            </a:r>
            <a:endParaRPr lang="en-US" sz="2000" dirty="0"/>
          </a:p>
          <a:p>
            <a:r>
              <a:rPr lang="en-US" sz="2000" dirty="0">
                <a:hlinkClick r:id="rId6"/>
              </a:rPr>
              <a:t>https://www.agilebusiness.org/dsdm-project-framework/moscow-prioririsation.html</a:t>
            </a:r>
            <a:r>
              <a:rPr lang="en-US" sz="2000" dirty="0"/>
              <a:t> </a:t>
            </a:r>
          </a:p>
          <a:p>
            <a:endParaRPr lang="en-US" sz="2000" dirty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529725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AF3CF8D61A7E498A6D23DDEC9CF059" ma:contentTypeVersion="3" ma:contentTypeDescription="Create a new document." ma:contentTypeScope="" ma:versionID="e7530b0f19470f478c818c14dcddfed7">
  <xsd:schema xmlns:xsd="http://www.w3.org/2001/XMLSchema" xmlns:xs="http://www.w3.org/2001/XMLSchema" xmlns:p="http://schemas.microsoft.com/office/2006/metadata/properties" xmlns:ns2="8737386b-6483-49ae-aacf-ddc268536cdc" targetNamespace="http://schemas.microsoft.com/office/2006/metadata/properties" ma:root="true" ma:fieldsID="2147ab6b8940d497b6ef250ddabce92e" ns2:_="">
    <xsd:import namespace="8737386b-6483-49ae-aacf-ddc268536c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37386b-6483-49ae-aacf-ddc268536c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761F5BC-6093-4B19-8A08-9713818AE732}"/>
</file>

<file path=customXml/itemProps2.xml><?xml version="1.0" encoding="utf-8"?>
<ds:datastoreItem xmlns:ds="http://schemas.openxmlformats.org/officeDocument/2006/customXml" ds:itemID="{6CED64DA-1B12-4C7B-82E0-497E3D88F420}"/>
</file>

<file path=customXml/itemProps3.xml><?xml version="1.0" encoding="utf-8"?>
<ds:datastoreItem xmlns:ds="http://schemas.openxmlformats.org/officeDocument/2006/customXml" ds:itemID="{F84C4595-137A-4042-8D3A-331EA15AD849}"/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1641</Words>
  <Application>Microsoft Office PowerPoint</Application>
  <PresentationFormat>On-screen Show (4:3)</PresentationFormat>
  <Paragraphs>186</Paragraphs>
  <Slides>25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Aptos</vt:lpstr>
      <vt:lpstr>Arial</vt:lpstr>
      <vt:lpstr>Calibri</vt:lpstr>
      <vt:lpstr>Gill Sans MT</vt:lpstr>
      <vt:lpstr>Wingdings</vt:lpstr>
      <vt:lpstr>Wingdings 2</vt:lpstr>
      <vt:lpstr>Office Theme</vt:lpstr>
      <vt:lpstr>Dividend</vt:lpstr>
      <vt:lpstr>PowerPoint Presentation</vt:lpstr>
      <vt:lpstr>Table of Contents</vt:lpstr>
      <vt:lpstr>Introduction to Requirements in SE</vt:lpstr>
      <vt:lpstr>PowerPoint Presentation</vt:lpstr>
      <vt:lpstr>Role of Requirements in SDLC</vt:lpstr>
      <vt:lpstr>User Needs vs. System Requirements</vt:lpstr>
      <vt:lpstr>Business vs. Technical Requirements</vt:lpstr>
      <vt:lpstr>Functional Requirements and Non-Functional Requirements</vt:lpstr>
      <vt:lpstr>Functional Requirements and   Non-Functional Requirements [Cont.]</vt:lpstr>
      <vt:lpstr>User, System and Business Requirements</vt:lpstr>
      <vt:lpstr>Examples of Critical NFRs</vt:lpstr>
      <vt:lpstr>Requirements Engineering Phases</vt:lpstr>
      <vt:lpstr>1. Inception</vt:lpstr>
      <vt:lpstr>3. Elaboration</vt:lpstr>
      <vt:lpstr>  5. Specification</vt:lpstr>
      <vt:lpstr>PowerPoint Presentation</vt:lpstr>
      <vt:lpstr>Challenges in Requirements Engineering</vt:lpstr>
      <vt:lpstr>Scope Creep</vt:lpstr>
      <vt:lpstr>Impact of Poor Requirements in S/W Projects </vt:lpstr>
      <vt:lpstr>Boehm’s Law</vt:lpstr>
      <vt:lpstr>Boehm’s Law (Cont.)</vt:lpstr>
      <vt:lpstr>User Stories vs Traditional SRS</vt:lpstr>
      <vt:lpstr>The  Requirements  Baseline</vt:lpstr>
      <vt:lpstr>Shift-Left Testing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Teacher</dc:creator>
  <cp:keywords/>
  <dc:description>generated using python-pptx</dc:description>
  <cp:lastModifiedBy>Saikat Baul</cp:lastModifiedBy>
  <cp:revision>144</cp:revision>
  <dcterms:created xsi:type="dcterms:W3CDTF">2013-01-27T09:14:16Z</dcterms:created>
  <dcterms:modified xsi:type="dcterms:W3CDTF">2025-10-19T11:02:30Z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0x010100EEAF3CF8D61A7E498A6D23DDEC9CF059</vt:lpwstr>
  </property>
</Properties>
</file>